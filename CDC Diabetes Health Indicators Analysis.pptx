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Cormorant Garamond"/>
      <p:regular r:id="rId13"/>
      <p:bold r:id="rId14"/>
      <p:italic r:id="rId15"/>
      <p:boldItalic r:id="rId16"/>
    </p:embeddedFont>
    <p:embeddedFont>
      <p:font typeface="Playfair Display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Montserrat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441243-B659-4A35-B50B-5592D9767E6D}">
  <a:tblStyle styleId="{DB441243-B659-4A35-B50B-5592D9767E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Light-bold.fntdata"/><Relationship Id="rId25" Type="http://schemas.openxmlformats.org/officeDocument/2006/relationships/font" Target="fonts/MontserratLight-regular.fntdata"/><Relationship Id="rId28" Type="http://schemas.openxmlformats.org/officeDocument/2006/relationships/font" Target="fonts/MontserratLight-boldItalic.fntdata"/><Relationship Id="rId27" Type="http://schemas.openxmlformats.org/officeDocument/2006/relationships/font" Target="fonts/Montserrat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CormorantGaramond-regular.fntdata"/><Relationship Id="rId12" Type="http://schemas.openxmlformats.org/officeDocument/2006/relationships/slide" Target="slides/slide6.xml"/><Relationship Id="rId15" Type="http://schemas.openxmlformats.org/officeDocument/2006/relationships/font" Target="fonts/CormorantGaramond-italic.fntdata"/><Relationship Id="rId14" Type="http://schemas.openxmlformats.org/officeDocument/2006/relationships/font" Target="fonts/CormorantGaramond-bold.fntdata"/><Relationship Id="rId17" Type="http://schemas.openxmlformats.org/officeDocument/2006/relationships/font" Target="fonts/PlayfairDisplay-regular.fntdata"/><Relationship Id="rId16" Type="http://schemas.openxmlformats.org/officeDocument/2006/relationships/font" Target="fonts/CormorantGaramond-boldItalic.fntdata"/><Relationship Id="rId19" Type="http://schemas.openxmlformats.org/officeDocument/2006/relationships/font" Target="fonts/PlayfairDisplay-italic.fntdata"/><Relationship Id="rId18" Type="http://schemas.openxmlformats.org/officeDocument/2006/relationships/font" Target="fonts/PlayfairDis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205412" y="1274564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GOD’S GRACE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30604" y="1769864"/>
            <a:ext cx="6330791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Diabetes Health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Indicators Analysis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381625" y="3754635"/>
            <a:ext cx="142875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317253" y="4268985"/>
            <a:ext cx="7557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5A059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“Driven by Insights, Rooted in GOD’S GRACE — Every Project Tells a Story Worth Seeing.”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67175" y="5250060"/>
            <a:ext cx="40576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CDC 2015 NATIONAL DATASET SUMMARY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00775"/>
            <a:ext cx="110490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1200"/>
            <a:ext cx="261937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1981200"/>
            <a:ext cx="261937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1981200"/>
            <a:ext cx="261937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1981200"/>
            <a:ext cx="2619375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381000"/>
            <a:ext cx="2970371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Executive Scale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009650"/>
            <a:ext cx="2828925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372725" y="609600"/>
            <a:ext cx="1247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GOD’S GRACE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6353175"/>
            <a:ext cx="37137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5A059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Driven by Insights, Rooted in GOD’S GRACE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020425" y="6372225"/>
            <a:ext cx="600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Slide 02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3609975"/>
            <a:ext cx="5334000" cy="24003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57250" y="3895725"/>
            <a:ext cx="47625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Demographic Narrative: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population leans female (142K) and is highly educated, with 107K College Graduates. However, high education levels do not exempt the population from the rising national average BMI of 28.38.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3609975"/>
            <a:ext cx="95250" cy="24003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14375" y="2266950"/>
            <a:ext cx="2333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254K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14375" y="2876550"/>
            <a:ext cx="2333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POPULATION SIZE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524250" y="2266950"/>
            <a:ext cx="2333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14%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524250" y="2876550"/>
            <a:ext cx="2333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DIABETES PREV.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334125" y="2266950"/>
            <a:ext cx="2333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28.4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334125" y="2876550"/>
            <a:ext cx="2333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AVG. BMI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0" y="2266950"/>
            <a:ext cx="2333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1.8%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144000" y="2876550"/>
            <a:ext cx="2333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PREDIABETES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286500" y="4371975"/>
            <a:ext cx="5334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Education vs. Health Insight: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286500" y="4705350"/>
            <a:ext cx="5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Despite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70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of the population having some college or higher, the 14% diabetes rate suggests that clinical risk factors often override socioeconomic status.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0077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381000"/>
            <a:ext cx="487060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Risk Factor Intersections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1009650"/>
            <a:ext cx="4638675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0372725" y="609600"/>
            <a:ext cx="1247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GOD’S GRACE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6353175"/>
            <a:ext cx="37137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5A059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Driven by Insights, Rooted in GOD’S GRACE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1020425" y="6372225"/>
            <a:ext cx="600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Slide 03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6286500" y="2867025"/>
            <a:ext cx="5334000" cy="24003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572250" y="3152775"/>
            <a:ext cx="4762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 Story of Co-occurrence: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In the Diabetic group (35K total),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77% (27K)</a:t>
            </a:r>
            <a:r>
              <a:rPr b="0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also battle High Blood Pressure. This triad of Diabetes, Hypertension, and Cholesterol forms the "Red Zone" of public health concern.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286500" y="2867025"/>
            <a:ext cx="95250" cy="24003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676525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Clinical Overlap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3092946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 Blood Pressure and High Cholesterol are the twin engines of this crisis.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71500" y="3645396"/>
            <a:ext cx="5334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42.9%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4188321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Total Population with Hypertension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71500" y="4550271"/>
            <a:ext cx="5334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42.4%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5093196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Total Population with High Cholesterol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0077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381000"/>
            <a:ext cx="5210651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Healthcare Access Paradox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1009650"/>
            <a:ext cx="4962525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0372725" y="609600"/>
            <a:ext cx="1247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GOD’S GRACE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5067300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"Safety Net" is thinning: Insurance exists, but the out-of-pocket reality forces 1 in 10 diabetic patients to defer critical care.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6353175"/>
            <a:ext cx="37137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5A059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Driven by Insights, Rooted in GOD’S GRACE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001375" y="6372225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Slide 04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2886075"/>
            <a:ext cx="5334000" cy="17907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857250" y="3171825"/>
            <a:ext cx="4762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Insight: The Cost Barrier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Even with 95.1% Insurance Coverage, over 21,000 participants skipped medical care due to cost in the last 12 months.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71500" y="2886075"/>
            <a:ext cx="95250" cy="17907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16"/>
          <p:cNvGraphicFramePr/>
          <p:nvPr/>
        </p:nvGraphicFramePr>
        <p:xfrm>
          <a:off x="6286500" y="2638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{DB441243-B659-4A35-B50B-5592D9767E6D}</a:tableStyleId>
              </a:tblPr>
              <a:tblGrid>
                <a:gridCol w="1392875"/>
                <a:gridCol w="1921975"/>
                <a:gridCol w="2019150"/>
              </a:tblGrid>
              <a:tr h="4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Avg. Mental Burden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Avg. Physical Burden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Diabetes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2.9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3.6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Prediabetes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4.5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6.3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91B1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Diabetes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91B1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4.5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991B1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16"/>
          <p:cNvSpPr txBox="1"/>
          <p:nvPr/>
        </p:nvSpPr>
        <p:spPr>
          <a:xfrm>
            <a:off x="6286500" y="4524375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*Days unwell per month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6286500" y="3529012"/>
            <a:ext cx="139288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679382" y="3529012"/>
            <a:ext cx="19219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9601348" y="3529012"/>
            <a:ext cx="201915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286500" y="3948112"/>
            <a:ext cx="139288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7679382" y="3948112"/>
            <a:ext cx="19219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9601348" y="3948112"/>
            <a:ext cx="201915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286500" y="4367212"/>
            <a:ext cx="139288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7679382" y="4367212"/>
            <a:ext cx="19219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9601348" y="4367212"/>
            <a:ext cx="201915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00775"/>
            <a:ext cx="110490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7487"/>
            <a:ext cx="35559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757487"/>
            <a:ext cx="35559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757487"/>
            <a:ext cx="3556099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571500" y="381000"/>
            <a:ext cx="396049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Predictive Story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1009650"/>
            <a:ext cx="37719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10372725" y="609600"/>
            <a:ext cx="1247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GOD’S GRACE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21193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truly tells the story of an impending diagnosis?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4176712"/>
            <a:ext cx="11049000" cy="17907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57250" y="4462462"/>
            <a:ext cx="10477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AI Conclusion: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Predictive modeling proves that the clinical self-rating of "Poor General Health" is nearly as accurate a predictor as clinical Hypertension. Listening to the patient's subjective experience is statistically equivalent to a medical reading.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4176712"/>
            <a:ext cx="95250" cy="17907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571500" y="6353175"/>
            <a:ext cx="37137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5A059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Driven by Insights, Rooted in GOD’S GRACE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1020425" y="6372225"/>
            <a:ext cx="600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Slide 05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71525" y="2957512"/>
            <a:ext cx="31559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3.92x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71525" y="3481387"/>
            <a:ext cx="3155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 BLOOD PRESSURE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4517975" y="2957512"/>
            <a:ext cx="31559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3.34x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4517975" y="3481387"/>
            <a:ext cx="3155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"POOR" GENERAL HEALTH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264425" y="2957512"/>
            <a:ext cx="315604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2.76x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8264425" y="3481387"/>
            <a:ext cx="31560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OBESITY (BMI &gt; 38)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4700587" y="1638300"/>
            <a:ext cx="27908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GOD’S GRACE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381625" y="2428875"/>
            <a:ext cx="142875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888652" y="3000375"/>
            <a:ext cx="104145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0F172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“Driven by Insights, Rooted in GOD’S GRACE — Every Project Tells a Story Worth Seeing.”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4572000" y="4505325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PROJECT COMPLETE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4572000" y="4886325"/>
            <a:ext cx="3048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CDC Public Health Analysis | 2015 Report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